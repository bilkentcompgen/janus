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2FF"/>
                </a:solidFill>
              </a:defRPr>
            </a:pPr>
            <a:r>
              <a:t>SVP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Alignment-Free Somatic Structural Variant Detection</a:t>
            </a:r>
            <a:br/>
            <a:r>
              <a:t>via Locally Consistent Parsing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Progress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What Are Structural Variants?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1148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What Happens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Deletion (DEL)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Segment removed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ABC → AC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Insertion (INS)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Novel sequence added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AC → AXC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Duplication (DUP)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Segment copied in tandem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ABC → ABBC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Inversion (INV)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Segment reversed in place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ABC → A(rcB)C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657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SVs account for more divergent bases between any two human genomes than SNPs,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despite being far fewer in number (~4,400 germline SVs vs. ~4M SNPs per individual).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Structural variants are genomic rearrangements ≥50 bp that alter chromosome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Abel et al., Nature 2020; Collins et al., Nature 2020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SVs in Cancer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Somatic SVs are a hallmark of cancer genomes. They drive tumorigenesis by disrupting tumor suppressors, creating oncogenic fusions, and amplifying driver genes.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PCAWG (2,658 tumors, 38 cancer types):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Median ~100-300 somatic SVs per tumor (varies widely by cancer type)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Breast/ovarian cancers: 5-6 driver SVs per tumor on average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Deletions most common, followed by tandem duplications, then inversions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Over half of all SV breakpoints occur within complex rearrangement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Additionally: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~10,000 somatic SNVs (~3/Mb for moderate TMB) per tumor genome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~2,000 somatic short indels per tumor genome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PCAWG Consortium, Nature 2020; Li et al., Nature 2020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How Other SV Callers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All major SV callers require aligned reads (BAM files) as input: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45720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Caller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Key Signals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Split-read + discordant pairs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Abnormal insert sizes, clipped reads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Manta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Discordant pairs + local assembly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Graph-based candidate generation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GRIDSS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Positional de Bruijn graph assembly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Soft-clipped, discordant, unmapped reads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SvABA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String graph local assembly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Gapped/clipped/discordant reads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LUMPY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Probabilistic integration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Multiple alignment signals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Common pipeline:</a:t>
            </a:r>
          </a:p>
          <a:p>
            <a:pPr>
              <a:spcBef>
                <a:spcPts val="600"/>
              </a:spcBef>
              <a:defRPr sz="1600" b="0">
                <a:solidFill>
                  <a:srgbClr val="00D2FF"/>
                </a:solidFill>
              </a:defRPr>
            </a:pPr>
            <a:r>
              <a:t>FASTQ → Aligner (BWA/minimap2) → BAM → SV Caller → VCF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94A3B8"/>
                </a:solidFill>
              </a:defRPr>
            </a:pPr>
            <a:r>
              <a:t>Limitations: alignment artifacts, reference bias, missed complex rearrangements, high computational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Rausch et al. 2012; Chen et al. 2016; Cameron et al. 2017; Wala et al. 2018; Layer et al. 2014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SVP: A Different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SVP skips alignment entirely. It uses Locally Consistent Parsing (LCP) to decompose genomes into deterministic subsequences ("cores"), builds a colored graph, and finds structural differences as divergent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Current stage: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Works on FASTA genome assemblies</a:t>
            </a:r>
          </a:p>
          <a:p>
            <a:pPr>
              <a:spcBef>
                <a:spcPts val="1000"/>
              </a:spcBef>
              <a:defRPr sz="1500" b="0">
                <a:solidFill>
                  <a:srgbClr val="00D2FF"/>
                </a:solidFill>
              </a:defRPr>
            </a:pPr>
            <a:r>
              <a:t>Ref FASTA + Normal FASTA + Tumor FASTA → SVP → VCF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Roadmap: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Extend to work directly on raw long reads (FASTQ) — PacBio / ONT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Call SVs without any alignment step. LCP is alignment-free by construction.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Advantages: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No alignment step — no alignment artifacts or reference bias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Detects all SV types (DEL, INS, DUP, INV) + SNPs in a single pass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Linear-time parsing: O(N) per genome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Natural path to direct long-read SV calling without BAM intermediates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Algorithm Step 1: LCP Parsing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Each input genome is parsed into LCP cores — deterministic, locally defined subsequences.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Core detection via local extrema patterns:</a:t>
            </a:r>
          </a:p>
          <a:p>
            <a:pPr>
              <a:spcBef>
                <a:spcPts val="400"/>
              </a:spcBef>
              <a:defRPr sz="1500">
                <a:solidFill>
                  <a:srgbClr val="CCCCCC"/>
                </a:solidFill>
              </a:defRPr>
            </a:pPr>
            <a:r>
              <a:t>Local minimum (LMIN):  a &gt; b &lt; c  — a valley</a:t>
            </a:r>
          </a:p>
          <a:p>
            <a:pPr>
              <a:spcBef>
                <a:spcPts val="400"/>
              </a:spcBef>
              <a:defRPr sz="1500">
                <a:solidFill>
                  <a:srgbClr val="CCCCCC"/>
                </a:solidFill>
              </a:defRPr>
            </a:pPr>
            <a:r>
              <a:t>Local maximum (LMAX):  a &lt; b &gt; c  — a peak</a:t>
            </a:r>
          </a:p>
          <a:p>
            <a:pPr>
              <a:spcBef>
                <a:spcPts val="400"/>
              </a:spcBef>
              <a:defRPr sz="1500">
                <a:solidFill>
                  <a:srgbClr val="CCCCCC"/>
                </a:solidFill>
              </a:defRPr>
            </a:pPr>
            <a:r>
              <a:t>Run-interrupted (RINT):  flanking identical character runs</a:t>
            </a:r>
          </a:p>
          <a:p>
            <a:pPr>
              <a:spcBef>
                <a:spcPts val="400"/>
              </a:spcBef>
              <a:defRPr sz="1500">
                <a:solidFill>
                  <a:srgbClr val="CCCCCC"/>
                </a:solidFill>
              </a:defRPr>
            </a:pPr>
            <a:r>
              <a:t>Spanning sequences (SSEQ):  fill gaps between 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Result: ~N/1.5 cores per genome after level-1 parsing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Deepening: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Iteratively compress via Deterministic Coin Tossing (DCT) + re-parsing.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Each level reduces core count by ~1.5x. After d levels: ~N/1.5^d 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Complexity: O(N) time and space, run once per genome (x3: ref, normal, tumor).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Algorithm Step 2: Colored Graph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Cores are hashed and inserted into a graph. Each node = one unique core sequence.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Color assignment: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Normal genome cores → color 0x1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Tumor genome cores → color 0x2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Cores in both genomes → shared color 0x3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Consecutive cores are linked with directed edges.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The graph encodes the structure of all genomes simultaneously.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Shared regions: most of the genome is identical → shared nodes.</a:t>
            </a:r>
          </a:p>
          <a:p>
            <a:pPr>
              <a:spcBef>
                <a:spcPts val="600"/>
              </a:spcBef>
              <a:defRPr sz="1600" b="1">
                <a:solidFill>
                  <a:srgbClr val="00D2FF"/>
                </a:solidFill>
              </a:defRPr>
            </a:pPr>
            <a:r>
              <a:t>Divergent regions: SVs create single-color nodes between shared anchors.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Algorithm Step 3: Bubble Detection &amp;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A bubble is a divergent subgraph between two shared anchor nodes: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2FF"/>
                </a:solidFill>
              </a:defRPr>
            </a:pPr>
            <a:r>
              <a:t>              ── normal-only path ──</a:t>
            </a:r>
            <a:br/>
            <a:r>
              <a:t>  shared  →                              →  shared</a:t>
            </a:r>
            <a:br/>
            <a:r>
              <a:t>              ── tumor-only path  ──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Detection: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Scan nodes for shared→single-color transitions (bubble start) and single-color→shared transitions (bubble end). O(V + 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Extraction: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BFS from each bubble start along normal-only and tumor-only edges.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Sequences reconstructed using KMP-based overlap merging.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Each bubble yields a (normal sequence, tumor sequence) pair — the raw material for SV calling.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Algorithm Step 4: Reference Anchoring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Bubble positions must be mapped back to reference genome coordinates.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Method: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Each core has a hash. A reference index maps core hashes to their reference positions.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If a bubble's start node has a unique reference position → direct anchor O(1).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Fallback: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Walk backward through predecessor nodes until a uniquely-anchored core is found.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Forward walk via end node as last resort.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Typical case: O(1) — most bubble starts anchor directly.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Algorithm Step 5: SV Calling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For each anchored bubble, classify the variant: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1. Quick scan: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Compare normal and tumor sequences from both ends inward. O(L).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2. Complex variants: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SIMD-accelerated Needleman-Wunsch global alignment + CIGAR parsing. O(L²).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3. Inversion detection (two pipelines):</a:t>
            </a: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t>Bubble-based: SW alignment of tumor vs. reverse complement of normal. Score ≥0.90 → INV.</a:t>
            </a: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t>Core-index: for large INVs. Tumor cores classified against forward/revcomp ref hash 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4. Duplication detection (two mechanisms):</a:t>
            </a: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t>Flipped DUP: color pattern matching on bubble boundary nodes.</a:t>
            </a: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t>INS→DUP reclassification: SW of inserted seq vs. adjacent reference. Score ≥0.70 → DUP.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Overall Complexity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00400"/>
                <a:gridCol w="274320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Space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LCP parsing (×3 genomes)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Graph construction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O(C_d)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O(V + E)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Reference indexing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O(C_d)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O(C_d)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Bubble detection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O(V + E)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O(B)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Path extraction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O(Σ path lengths)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O(L_max)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SV calling (simple)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O(L) per bubble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SV calling (alignment)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O(L²) per bubble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O(L²)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</a:defRPr>
            </a:pPr>
            <a:r>
              <a:t>Overall: O(N + B·L²)</a:t>
            </a:r>
          </a:p>
          <a:p>
            <a:pPr>
              <a:spcBef>
                <a:spcPts val="600"/>
              </a:spcBef>
              <a:defRPr sz="1400" b="0">
                <a:solidFill>
                  <a:srgbClr val="94A3B8"/>
                </a:solidFill>
              </a:defRPr>
            </a:pPr>
            <a:r>
              <a:t>N = genome length, B = number of bubbles, L = avg bubble sequence length</a:t>
            </a:r>
          </a:p>
          <a:p>
            <a:pPr>
              <a:spcBef>
                <a:spcPts val="600"/>
              </a:spcBef>
              <a:defRPr sz="1400" b="0">
                <a:solidFill>
                  <a:srgbClr val="94A3B8"/>
                </a:solidFill>
              </a:defRPr>
            </a:pPr>
            <a:r>
              <a:t>Dominant cost: Needleman-Wunsch alignment for complex variants (mitigated by SIMD)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Simulation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Somatic simulation (GRCh38 reference → tumor genome):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10,000 somatic SNPs (~3/Mb, moderate tumor mutational burden)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2,000 somatic short indels (1-49bp)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</a:defRPr>
            </a:pPr>
            <a:r>
              <a:t>300 somatic SVs:</a:t>
            </a:r>
          </a:p>
          <a:p>
            <a:pPr lvl="1"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120 DEL (50bp – 1Mb)</a:t>
            </a:r>
          </a:p>
          <a:p>
            <a:pPr lvl="1"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70 DUP (50bp – 1Mb)</a:t>
            </a:r>
          </a:p>
          <a:p>
            <a:pPr lvl="1"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60 INS (50bp – 100kb)</a:t>
            </a:r>
          </a:p>
          <a:p>
            <a:pPr lvl="1">
              <a:spcBef>
                <a:spcPts val="400"/>
              </a:spcBef>
              <a:defRPr sz="1600">
                <a:solidFill>
                  <a:srgbClr val="CCCCCC"/>
                </a:solidFill>
              </a:defRPr>
            </a:pPr>
            <a:r>
              <a:t>50 INV (50bp – 1Mb)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Genome-wide across all 22 autosomes (~3.1 Gb).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Reference genome serves as the normal. Generated with insilicoSV.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SV counts based on PCAWG (Li et al., Nature 2020). SNV rate: moderate-TMB solid tumors.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Published Accuracy of Other Callers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All require aligned BAM input. Simulated tumor-normal WGS at 60× coverage.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50292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Caller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Sensitivity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Manta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~91%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&gt;90%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Best standalone; best for INS (79%)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LUMPY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~77%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&gt;90%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Good DEL recall; highest call count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GRIDSS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~75%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&gt;90%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Best breakpoint precision; 38 GB memory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Delly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~70%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&gt;90%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Good INV recall (&gt;80%); slow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SvABA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~63%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&gt;90%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Best for large SVs (&gt;1Mb)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20624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Caller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Wall time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Peak memory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Manta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~49 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2.8 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Delly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~54 min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0.9 GB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LUMPY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~29 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5.7 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GRIDSS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~8.4 hr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38.5 GB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4206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Note: not apples-to-apples. These callers work from aligned reads (BAM). SVP works from assembled genomes (FASTA) — no upstream alignment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Kosugi et al. 2019; Cameron et al. 2024; Kuzniar et al. 2020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SVP Runtime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AMD Ryzen 9 9950X. 22 autosomes (~3.1 Gb), LCP depth=5.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Total CPU time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1,347 s (~22 min)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Wall time (8 cores)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~3 min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Peak memory (per chr)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11.4 GB (chr2)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004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Runtime and memory scale linearly with chromosome size.</a:t>
            </a:r>
            <a:br/>
            <a:br/>
            <a:r>
              <a:t>Per-chromosome processing is trivially parallelizable.</a:t>
            </a:r>
            <a:br/>
            <a:br/>
            <a:r>
              <a:t>No alignment step needed.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SVP Accuracy (Truvari, SVs ≥50bp)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300 somatic SVs + 12,000 SNPs/indels across 22 autosomes. Evaluated with Truvari.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  <a:gridCol w="1737360"/>
                <a:gridCol w="16459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Truth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TP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FP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FN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38.3%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70.8%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49.7%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INS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178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19.8%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73.3%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31.2%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197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71.4%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31.5%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INV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84.6%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88.0%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86.3%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539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31.7%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83.3%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45.9%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22C55E"/>
                </a:solidFill>
              </a:defRPr>
            </a:pPr>
            <a:r>
              <a:t>Recall is strong — SVP finds 83% of true somatic SVs across all types and sizes.</a:t>
            </a:r>
          </a:p>
          <a:p>
            <a:pPr>
              <a:spcBef>
                <a:spcPts val="600"/>
              </a:spcBef>
              <a:defRPr sz="1600" b="1">
                <a:solidFill>
                  <a:srgbClr val="22C55E"/>
                </a:solidFill>
              </a:defRPr>
            </a:pPr>
            <a:r>
              <a:t>INV detection is the standout — 88% recall, 85% precision (F1=86%).</a:t>
            </a:r>
          </a:p>
          <a:p>
            <a:pPr>
              <a:spcBef>
                <a:spcPts val="1000"/>
              </a:spcBef>
              <a:defRPr sz="1500" b="0">
                <a:solidFill>
                  <a:srgbClr val="FACC15"/>
                </a:solidFill>
              </a:defRPr>
            </a:pPr>
            <a:r>
              <a:t>Precision is low for DEL/INS/DUP — complex breakpoint regions produce extra calls.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Accuracy by SV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Precision improves dramatically with SV size — the FP problem is concentrated in small SVs (50-500bp).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188720"/>
                <a:gridCol w="1188720"/>
                <a:gridCol w="1188720"/>
                <a:gridCol w="1737360"/>
                <a:gridCol w="1463040"/>
                <a:gridCol w="118872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Min Size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Truth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TP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FP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FN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≥50bp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539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31.7%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83.3%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45.9%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≥100bp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292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242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260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48.2%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82.9%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61.0%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≥500bp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226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196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80.3%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86.7%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83.4%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≥1kb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221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191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81.3%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86.4%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83.8%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≥5kb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178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88.2%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84.3%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86.2%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≥10kb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83.5%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79.1%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81.3%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22C55E"/>
                </a:solidFill>
              </a:defRPr>
            </a:pPr>
            <a:r>
              <a:t>At ≥500bp:  80% precision, 87% recall, F1 = 83%</a:t>
            </a:r>
          </a:p>
          <a:p>
            <a:pPr>
              <a:spcBef>
                <a:spcPts val="600"/>
              </a:spcBef>
              <a:defRPr sz="1800" b="1">
                <a:solidFill>
                  <a:srgbClr val="22C55E"/>
                </a:solidFill>
              </a:defRPr>
            </a:pPr>
            <a:r>
              <a:t>At ≥1kb:    81% precision, 86% recall, F1 = 84%</a:t>
            </a:r>
          </a:p>
          <a:p>
            <a:pPr>
              <a:spcBef>
                <a:spcPts val="600"/>
              </a:spcBef>
              <a:defRPr sz="1800" b="1">
                <a:solidFill>
                  <a:srgbClr val="22C55E"/>
                </a:solidFill>
              </a:defRPr>
            </a:pPr>
            <a:r>
              <a:t>At ≥5kb:    88% precision, 84% recall, F1 = 86%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Accuracy by Chromosome (SVs ≥50bp)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005840"/>
          <a:ext cx="51206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731520"/>
                <a:gridCol w="548640"/>
                <a:gridCol w="731520"/>
                <a:gridCol w="548640"/>
                <a:gridCol w="1097280"/>
                <a:gridCol w="9144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Chr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Truth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TP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FP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FN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Prec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Rec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42.3%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73.3%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47.8%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78.6%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32.3%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90.9%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33.3%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84.6%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25.8%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88.9%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47.2%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89.5%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39.0%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81.8%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92.3%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84.2%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005840"/>
          <a:ext cx="51206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731520"/>
                <a:gridCol w="548640"/>
                <a:gridCol w="731520"/>
                <a:gridCol w="548640"/>
                <a:gridCol w="1097280"/>
                <a:gridCol w="9144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Chr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Truth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TP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FP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FN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Prec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D2FF"/>
                          </a:solidFill>
                        </a:defRPr>
                      </a:pPr>
                      <a:r>
                        <a:t>Rec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33.3%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83.3%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92.3%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43.9%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23.4%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91.7%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35.7%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83.3%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31.0%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69.2%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37.9%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21.2%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87.5%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24.3%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69.2%</a:t>
                      </a:r>
                    </a:p>
                  </a:txBody>
                  <a:tcPr>
                    <a:solidFill>
                      <a:srgbClr val="151F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22.9%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Recall is consistently 69-100% across chromosomes. chr9 shows a FP spike from complex/repetitive regions.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Known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FACC15"/>
                </a:solidFill>
              </a:defRPr>
            </a:pPr>
            <a:r>
              <a:t>FP rate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Somatic SNPs and short indels near SV breakpoints can produce spurious SV-sized calls. Filtering and post-processing can reduce this.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FACC15"/>
                </a:solidFill>
              </a:defRPr>
            </a:pPr>
            <a:r>
              <a:t>DUP precision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Tandem duplications remain the hardest SV type — a known challenge across all callers (published benchmarks show F1 &lt; 0.2 for most BAM-based tools as well).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FACC15"/>
                </a:solidFill>
              </a:defRPr>
            </a:pPr>
            <a:r>
              <a:t>Germline divergence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When the normal genome diverges significantly from the reference, coordinate anchoring accuracy degrades. Active work on germline-aware anchoring.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FACC15"/>
                </a:solidFill>
              </a:defRPr>
            </a:pPr>
            <a:r>
              <a:t>FASTA-only input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Currently requires assembled genomes; long-read FASTQ support is the next milestone.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Current Status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</a:defRPr>
            </a:pPr>
            <a:r>
              <a:t>Done:</a:t>
            </a:r>
          </a:p>
          <a:p>
            <a:pPr>
              <a:spcBef>
                <a:spcPts val="400"/>
              </a:spcBef>
              <a:defRPr sz="1500">
                <a:solidFill>
                  <a:srgbClr val="CCCCCC"/>
                </a:solidFill>
              </a:defRPr>
            </a:pPr>
            <a:r>
              <a:t>Alignment-free SV calling from FASTA genomes using LCP</a:t>
            </a:r>
          </a:p>
          <a:p>
            <a:pPr>
              <a:spcBef>
                <a:spcPts val="400"/>
              </a:spcBef>
              <a:defRPr sz="1500">
                <a:solidFill>
                  <a:srgbClr val="CCCCCC"/>
                </a:solidFill>
              </a:defRPr>
            </a:pPr>
            <a:r>
              <a:t>Detects DEL, INS, DUP, INV, and SNPs in a single pass</a:t>
            </a:r>
          </a:p>
          <a:p>
            <a:pPr>
              <a:spcBef>
                <a:spcPts val="400"/>
              </a:spcBef>
              <a:defRPr sz="1500">
                <a:solidFill>
                  <a:srgbClr val="CCCCCC"/>
                </a:solidFill>
              </a:defRPr>
            </a:pPr>
            <a:r>
              <a:t>Linear-time genome parsing</a:t>
            </a:r>
          </a:p>
          <a:p>
            <a:pPr>
              <a:spcBef>
                <a:spcPts val="400"/>
              </a:spcBef>
              <a:defRPr sz="1500">
                <a:solidFill>
                  <a:srgbClr val="CCCCCC"/>
                </a:solidFill>
              </a:defRPr>
            </a:pPr>
            <a:r>
              <a:t>Genome-wide benchmarking: 83% recall, F1=83% at ≥500bp</a:t>
            </a:r>
          </a:p>
          <a:p>
            <a:pPr>
              <a:spcBef>
                <a:spcPts val="400"/>
              </a:spcBef>
              <a:defRPr sz="1500">
                <a:solidFill>
                  <a:srgbClr val="CCCCCC"/>
                </a:solidFill>
              </a:defRPr>
            </a:pPr>
            <a:r>
              <a:t>~22 min single-core / ~3 min with 8 cores for full genome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</a:defRPr>
            </a:pPr>
            <a:r>
              <a:t>Next steps:</a:t>
            </a:r>
          </a:p>
          <a:p>
            <a:pPr>
              <a:spcBef>
                <a:spcPts val="400"/>
              </a:spcBef>
              <a:defRPr sz="1500">
                <a:solidFill>
                  <a:srgbClr val="CCCCCC"/>
                </a:solidFill>
              </a:defRPr>
            </a:pPr>
            <a:r>
              <a:t>Improve precision via call filtering and breakpoint refinement</a:t>
            </a:r>
          </a:p>
          <a:p>
            <a:pPr>
              <a:spcBef>
                <a:spcPts val="400"/>
              </a:spcBef>
              <a:defRPr sz="1500">
                <a:solidFill>
                  <a:srgbClr val="CCCCCC"/>
                </a:solidFill>
              </a:defRPr>
            </a:pPr>
            <a:r>
              <a:t>Extend LCP parsing to raw long reads (FASTQ)</a:t>
            </a:r>
          </a:p>
          <a:p>
            <a:pPr>
              <a:spcBef>
                <a:spcPts val="400"/>
              </a:spcBef>
              <a:defRPr sz="1500">
                <a:solidFill>
                  <a:srgbClr val="CCCCCC"/>
                </a:solidFill>
              </a:defRPr>
            </a:pPr>
            <a:r>
              <a:t>Call somatic SVs from PacBio/ONT without alignment</a:t>
            </a:r>
          </a:p>
          <a:p>
            <a:pPr>
              <a:spcBef>
                <a:spcPts val="400"/>
              </a:spcBef>
              <a:defRPr sz="1500">
                <a:solidFill>
                  <a:srgbClr val="CCCCCC"/>
                </a:solidFill>
              </a:defRPr>
            </a:pPr>
            <a:r>
              <a:t>Benchmark against Delly, Manta, GRIDSS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